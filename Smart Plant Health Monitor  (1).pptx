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ed Hat Display SemiBold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  <p:embeddedFont>
      <p:font typeface="Red Hat Display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SemiBold-bold.fntdata"/><Relationship Id="rId22" Type="http://schemas.openxmlformats.org/officeDocument/2006/relationships/font" Target="fonts/RedHatDisplaySemiBold-boldItalic.fntdata"/><Relationship Id="rId21" Type="http://schemas.openxmlformats.org/officeDocument/2006/relationships/font" Target="fonts/RedHatDisplaySemiBold-italic.fntdata"/><Relationship Id="rId24" Type="http://schemas.openxmlformats.org/officeDocument/2006/relationships/font" Target="fonts/RedHatDisplayMedium-bold.fntdata"/><Relationship Id="rId23" Type="http://schemas.openxmlformats.org/officeDocument/2006/relationships/font" Target="fonts/RedHatDisplay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Medium-boldItalic.fntdata"/><Relationship Id="rId25" Type="http://schemas.openxmlformats.org/officeDocument/2006/relationships/font" Target="fonts/RedHatDisplayMedium-italic.fntdata"/><Relationship Id="rId28" Type="http://schemas.openxmlformats.org/officeDocument/2006/relationships/font" Target="fonts/RedHatDisplay-bold.fntdata"/><Relationship Id="rId27" Type="http://schemas.openxmlformats.org/officeDocument/2006/relationships/font" Target="fonts/RedHat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edHat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edHatDisplayExtraBold-bold.fntdata"/><Relationship Id="rId30" Type="http://schemas.openxmlformats.org/officeDocument/2006/relationships/font" Target="fonts/RedHatDispl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edHatDisplay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edHatDisplay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f2a155d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af2a155d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f2a155d7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f2a155d7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f2a155d79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f2a155d79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f2a155d7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f2a155d7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f2a155d7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f2a155d7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faea26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afaea26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faea2699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faea2699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faea2699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afaea2699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faea2699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faea2699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fdbd959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fdbd959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faea2699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afaea2699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afaea2699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afaea2699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f2a155d79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af2a155d79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s://thingspeak.mathworks.com/channels/3193137/private_show" TargetMode="External"/><Relationship Id="rId5" Type="http://schemas.openxmlformats.org/officeDocument/2006/relationships/hyperlink" Target="https://stem.ubidots.com/app/devices/6939d9281db23958481175bc" TargetMode="External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hingspeak.mathworks.com/channels/3193137/private_show" TargetMode="External"/><Relationship Id="rId4" Type="http://schemas.openxmlformats.org/officeDocument/2006/relationships/hyperlink" Target="https://stem.ubidots.com/app/devices/6939d9281db23958481175b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tudio.edgeimpulse.com/studio/85136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oyataebisso/smart-plant-moni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407950" y="1801494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Smart Plant Health Monitor</a:t>
            </a:r>
            <a:endParaRPr sz="2300">
              <a:solidFill>
                <a:schemeClr val="dk2"/>
              </a:solidFill>
              <a:latin typeface="Red Hat Display ExtraBold"/>
              <a:ea typeface="Red Hat Display ExtraBold"/>
              <a:cs typeface="Red Hat Display ExtraBold"/>
              <a:sym typeface="Red Hat Displ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Edge-to-Cloud IoT System with ML Capabilities</a:t>
            </a:r>
            <a:endParaRPr sz="1700">
              <a:solidFill>
                <a:schemeClr val="dk2"/>
              </a:solidFill>
              <a:latin typeface="Red Hat Display ExtraBold"/>
              <a:ea typeface="Red Hat Display ExtraBold"/>
              <a:cs typeface="Red Hat Display ExtraBold"/>
              <a:sym typeface="Red Hat Displ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By: </a:t>
            </a:r>
            <a:r>
              <a:rPr lang="en" sz="1300">
                <a:solidFill>
                  <a:schemeClr val="dk2"/>
                </a:solidFill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Moyata Ebisso</a:t>
            </a:r>
            <a:endParaRPr sz="1300">
              <a:solidFill>
                <a:schemeClr val="dk2"/>
              </a:solidFill>
              <a:latin typeface="Red Hat Display ExtraBold"/>
              <a:ea typeface="Red Hat Display ExtraBold"/>
              <a:cs typeface="Red Hat Display ExtraBold"/>
              <a:sym typeface="Red Hat Display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ed Hat Display ExtraBold"/>
              <a:ea typeface="Red Hat Display ExtraBold"/>
              <a:cs typeface="Red Hat Display ExtraBold"/>
              <a:sym typeface="Red Hat Display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 txBox="1"/>
          <p:nvPr>
            <p:ph type="title"/>
          </p:nvPr>
        </p:nvSpPr>
        <p:spPr>
          <a:xfrm>
            <a:off x="2000950" y="1259267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Problems With Plant Care:</a:t>
            </a:r>
            <a:endParaRPr/>
          </a:p>
        </p:txBody>
      </p:sp>
      <p:sp>
        <p:nvSpPr>
          <p:cNvPr id="554" name="Google Shape;554;p44"/>
          <p:cNvSpPr txBox="1"/>
          <p:nvPr>
            <p:ph idx="1" type="subTitle"/>
          </p:nvPr>
        </p:nvSpPr>
        <p:spPr>
          <a:xfrm>
            <a:off x="2000950" y="1895400"/>
            <a:ext cx="4242300" cy="25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Char char="●"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40% of houseplants die from improper watering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Char char="●"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People forget to water or overwater their plants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Char char="●"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No easy way to know when a plant actually needs attention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Char char="●"/>
            </a:pPr>
            <a:r>
              <a:rPr lang="en"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Traditional solutions require constant manual checking</a:t>
            </a:r>
            <a:endParaRPr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/>
          <p:nvPr>
            <p:ph type="title"/>
          </p:nvPr>
        </p:nvSpPr>
        <p:spPr>
          <a:xfrm>
            <a:off x="2007875" y="12661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Smart Monitoring</a:t>
            </a:r>
            <a:endParaRPr/>
          </a:p>
        </p:txBody>
      </p:sp>
      <p:sp>
        <p:nvSpPr>
          <p:cNvPr id="560" name="Google Shape;560;p45"/>
          <p:cNvSpPr txBox="1"/>
          <p:nvPr>
            <p:ph idx="1" type="subTitle"/>
          </p:nvPr>
        </p:nvSpPr>
        <p:spPr>
          <a:xfrm>
            <a:off x="1742800" y="1895400"/>
            <a:ext cx="35772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Automated sensing of soil moisture, temperature, humidity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Edge intelligence makes local decisions without cloud dependency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Alerts when plant needs water (buzzer + visual)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Cloud dashboard (Thingspeak + Ubidots) for historical trends and remote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Camera capture documents plant health over time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6"/>
          <p:cNvSpPr txBox="1"/>
          <p:nvPr>
            <p:ph type="title"/>
          </p:nvPr>
        </p:nvSpPr>
        <p:spPr>
          <a:xfrm>
            <a:off x="2512625" y="621025"/>
            <a:ext cx="65253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566" name="Google Shape;566;p46"/>
          <p:cNvSpPr txBox="1"/>
          <p:nvPr/>
        </p:nvSpPr>
        <p:spPr>
          <a:xfrm>
            <a:off x="2512625" y="1331550"/>
            <a:ext cx="3333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CDA-GDA-Cloud Architecture</a:t>
            </a:r>
            <a:endParaRPr sz="1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7" name="Google Shape;56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050" y="2393650"/>
            <a:ext cx="6631375" cy="22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7"/>
          <p:cNvSpPr txBox="1"/>
          <p:nvPr>
            <p:ph type="title"/>
          </p:nvPr>
        </p:nvSpPr>
        <p:spPr>
          <a:xfrm>
            <a:off x="629100" y="704450"/>
            <a:ext cx="7979700" cy="656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Hardware Components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73" name="Google Shape;573;p47"/>
          <p:cNvPicPr preferRelativeResize="0"/>
          <p:nvPr/>
        </p:nvPicPr>
        <p:blipFill rotWithShape="1">
          <a:blip r:embed="rId3">
            <a:alphaModFix/>
          </a:blip>
          <a:srcRect b="0" l="0" r="0" t="9214"/>
          <a:stretch/>
        </p:blipFill>
        <p:spPr>
          <a:xfrm>
            <a:off x="708475" y="2233575"/>
            <a:ext cx="3638350" cy="27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7"/>
          <p:cNvPicPr preferRelativeResize="0"/>
          <p:nvPr/>
        </p:nvPicPr>
        <p:blipFill rotWithShape="1">
          <a:blip r:embed="rId4">
            <a:alphaModFix/>
          </a:blip>
          <a:srcRect b="0" l="0" r="0" t="11559"/>
          <a:stretch/>
        </p:blipFill>
        <p:spPr>
          <a:xfrm>
            <a:off x="4567950" y="2281825"/>
            <a:ext cx="4469699" cy="21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7"/>
          <p:cNvSpPr txBox="1"/>
          <p:nvPr/>
        </p:nvSpPr>
        <p:spPr>
          <a:xfrm>
            <a:off x="629100" y="1667763"/>
            <a:ext cx="24234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Edge Device (CDA):</a:t>
            </a:r>
            <a:endParaRPr b="1"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6" name="Google Shape;576;p47"/>
          <p:cNvSpPr txBox="1"/>
          <p:nvPr/>
        </p:nvSpPr>
        <p:spPr>
          <a:xfrm>
            <a:off x="4567950" y="1656900"/>
            <a:ext cx="428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Gateway Device (GDA):</a:t>
            </a:r>
            <a:endParaRPr b="1" sz="1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8"/>
          <p:cNvSpPr/>
          <p:nvPr/>
        </p:nvSpPr>
        <p:spPr>
          <a:xfrm>
            <a:off x="229525" y="2429600"/>
            <a:ext cx="1500900" cy="1957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2" name="Google Shape;582;p48"/>
          <p:cNvSpPr/>
          <p:nvPr/>
        </p:nvSpPr>
        <p:spPr>
          <a:xfrm>
            <a:off x="2016800" y="2429600"/>
            <a:ext cx="1500900" cy="1957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3" name="Google Shape;583;p48"/>
          <p:cNvSpPr/>
          <p:nvPr/>
        </p:nvSpPr>
        <p:spPr>
          <a:xfrm>
            <a:off x="3774600" y="2429600"/>
            <a:ext cx="1500900" cy="1957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4" name="Google Shape;584;p48"/>
          <p:cNvSpPr/>
          <p:nvPr/>
        </p:nvSpPr>
        <p:spPr>
          <a:xfrm>
            <a:off x="5616675" y="2429600"/>
            <a:ext cx="1500900" cy="1957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5" name="Google Shape;585;p48"/>
          <p:cNvSpPr/>
          <p:nvPr/>
        </p:nvSpPr>
        <p:spPr>
          <a:xfrm>
            <a:off x="7411450" y="2429600"/>
            <a:ext cx="1500900" cy="1957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229525" y="2429600"/>
            <a:ext cx="15009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2016800" y="2429600"/>
            <a:ext cx="15009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8" name="Google Shape;588;p48"/>
          <p:cNvSpPr/>
          <p:nvPr/>
        </p:nvSpPr>
        <p:spPr>
          <a:xfrm>
            <a:off x="3774600" y="2429600"/>
            <a:ext cx="15009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89" name="Google Shape;589;p48"/>
          <p:cNvSpPr/>
          <p:nvPr/>
        </p:nvSpPr>
        <p:spPr>
          <a:xfrm>
            <a:off x="5616675" y="2429600"/>
            <a:ext cx="15009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7411450" y="2429600"/>
            <a:ext cx="15009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591" name="Google Shape;591;p48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Sense</a:t>
            </a:r>
            <a:endParaRPr/>
          </a:p>
        </p:txBody>
      </p:sp>
      <p:sp>
        <p:nvSpPr>
          <p:cNvPr id="592" name="Google Shape;592;p48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Decision</a:t>
            </a:r>
            <a:endParaRPr/>
          </a:p>
        </p:txBody>
      </p:sp>
      <p:sp>
        <p:nvSpPr>
          <p:cNvPr id="593" name="Google Shape;593;p48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Transmit </a:t>
            </a:r>
            <a:endParaRPr/>
          </a:p>
        </p:txBody>
      </p:sp>
      <p:sp>
        <p:nvSpPr>
          <p:cNvPr id="594" name="Google Shape;594;p48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Gateway Process</a:t>
            </a:r>
            <a:endParaRPr/>
          </a:p>
        </p:txBody>
      </p:sp>
      <p:sp>
        <p:nvSpPr>
          <p:cNvPr id="595" name="Google Shape;595;p48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Upload</a:t>
            </a:r>
            <a:endParaRPr/>
          </a:p>
        </p:txBody>
      </p:sp>
      <p:sp>
        <p:nvSpPr>
          <p:cNvPr id="596" name="Google Shape;596;p48"/>
          <p:cNvSpPr txBox="1"/>
          <p:nvPr>
            <p:ph idx="7" type="body"/>
          </p:nvPr>
        </p:nvSpPr>
        <p:spPr>
          <a:xfrm>
            <a:off x="387584" y="2820600"/>
            <a:ext cx="12393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Arduino reads moisture, temp, humidity every 5 seconds</a:t>
            </a:r>
            <a:endParaRPr sz="1500"/>
          </a:p>
        </p:txBody>
      </p:sp>
      <p:sp>
        <p:nvSpPr>
          <p:cNvPr id="597" name="Google Shape;597;p48"/>
          <p:cNvSpPr txBox="1"/>
          <p:nvPr>
            <p:ph idx="8" type="body"/>
          </p:nvPr>
        </p:nvSpPr>
        <p:spPr>
          <a:xfrm>
            <a:off x="2132859" y="2812950"/>
            <a:ext cx="12393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Arduino </a:t>
            </a:r>
            <a:r>
              <a:rPr lang="en" sz="1300"/>
              <a:t>determines</a:t>
            </a:r>
            <a:r>
              <a:rPr lang="en" sz="1300"/>
              <a:t> status locally: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If (moisture &lt; 30%) 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100"/>
              <a:t> NEEDSWATER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   BUZZER</a:t>
            </a:r>
            <a:endParaRPr sz="1100"/>
          </a:p>
        </p:txBody>
      </p:sp>
      <p:sp>
        <p:nvSpPr>
          <p:cNvPr id="598" name="Google Shape;598;p48"/>
          <p:cNvSpPr txBox="1"/>
          <p:nvPr>
            <p:ph idx="9" type="body"/>
          </p:nvPr>
        </p:nvSpPr>
        <p:spPr>
          <a:xfrm>
            <a:off x="3941634" y="2820600"/>
            <a:ext cx="1239300" cy="133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JSON via USB Serial: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{“temp”:22.0, “humidity”:50.0,”moisture”:44,”status”:”HEALTHY”}</a:t>
            </a:r>
            <a:endParaRPr sz="1200"/>
          </a:p>
        </p:txBody>
      </p:sp>
      <p:sp>
        <p:nvSpPr>
          <p:cNvPr id="599" name="Google Shape;599;p48"/>
          <p:cNvSpPr txBox="1"/>
          <p:nvPr>
            <p:ph idx="13" type="body"/>
          </p:nvPr>
        </p:nvSpPr>
        <p:spPr>
          <a:xfrm>
            <a:off x="5764484" y="2820600"/>
            <a:ext cx="12393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Pi receives, logs to CSV, captures photo if problem detected</a:t>
            </a:r>
            <a:endParaRPr sz="1400"/>
          </a:p>
        </p:txBody>
      </p:sp>
      <p:sp>
        <p:nvSpPr>
          <p:cNvPr id="600" name="Google Shape;600;p48"/>
          <p:cNvSpPr txBox="1"/>
          <p:nvPr>
            <p:ph idx="14" type="body"/>
          </p:nvPr>
        </p:nvSpPr>
        <p:spPr>
          <a:xfrm>
            <a:off x="7587334" y="2820600"/>
            <a:ext cx="12393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HTTP POST to ThingSpeak (15s) + Ubidots (10s) for visualization</a:t>
            </a:r>
            <a:endParaRPr sz="1500"/>
          </a:p>
        </p:txBody>
      </p:sp>
      <p:sp>
        <p:nvSpPr>
          <p:cNvPr id="601" name="Google Shape;601;p48"/>
          <p:cNvSpPr txBox="1"/>
          <p:nvPr>
            <p:ph type="title"/>
          </p:nvPr>
        </p:nvSpPr>
        <p:spPr>
          <a:xfrm>
            <a:off x="387575" y="941400"/>
            <a:ext cx="7979700" cy="60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Data Flow Pipeline</a:t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228600" y="420025"/>
            <a:ext cx="2926200" cy="54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Edge Intelligence</a:t>
            </a:r>
            <a:endParaRPr b="1" sz="2600"/>
          </a:p>
        </p:txBody>
      </p:sp>
      <p:sp>
        <p:nvSpPr>
          <p:cNvPr id="607" name="Google Shape;607;p49"/>
          <p:cNvSpPr/>
          <p:nvPr/>
        </p:nvSpPr>
        <p:spPr>
          <a:xfrm>
            <a:off x="1726225" y="1833976"/>
            <a:ext cx="17307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08" name="Google Shape;608;p49"/>
          <p:cNvSpPr txBox="1"/>
          <p:nvPr>
            <p:ph idx="3" type="subTitle"/>
          </p:nvPr>
        </p:nvSpPr>
        <p:spPr>
          <a:xfrm>
            <a:off x="1980175" y="1918136"/>
            <a:ext cx="1222800" cy="2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reading and calibration</a:t>
            </a:r>
            <a:endParaRPr/>
          </a:p>
        </p:txBody>
      </p:sp>
      <p:sp>
        <p:nvSpPr>
          <p:cNvPr id="609" name="Google Shape;609;p49"/>
          <p:cNvSpPr txBox="1"/>
          <p:nvPr>
            <p:ph idx="4" type="subTitle"/>
          </p:nvPr>
        </p:nvSpPr>
        <p:spPr>
          <a:xfrm>
            <a:off x="725776" y="1298725"/>
            <a:ext cx="3103800" cy="455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What Runs on the Edge (Arduino):</a:t>
            </a:r>
            <a:endParaRPr b="1" sz="1400"/>
          </a:p>
        </p:txBody>
      </p:sp>
      <p:sp>
        <p:nvSpPr>
          <p:cNvPr id="610" name="Google Shape;610;p49"/>
          <p:cNvSpPr/>
          <p:nvPr/>
        </p:nvSpPr>
        <p:spPr>
          <a:xfrm>
            <a:off x="1787200" y="2520526"/>
            <a:ext cx="17307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11" name="Google Shape;611;p49"/>
          <p:cNvSpPr txBox="1"/>
          <p:nvPr>
            <p:ph idx="3" type="subTitle"/>
          </p:nvPr>
        </p:nvSpPr>
        <p:spPr>
          <a:xfrm>
            <a:off x="2041150" y="2604686"/>
            <a:ext cx="1222800" cy="2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 decision (moisture &lt; 30% = alert)</a:t>
            </a:r>
            <a:endParaRPr/>
          </a:p>
        </p:txBody>
      </p:sp>
      <p:sp>
        <p:nvSpPr>
          <p:cNvPr id="612" name="Google Shape;612;p49"/>
          <p:cNvSpPr/>
          <p:nvPr/>
        </p:nvSpPr>
        <p:spPr>
          <a:xfrm>
            <a:off x="1787200" y="3207063"/>
            <a:ext cx="17307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13" name="Google Shape;613;p49"/>
          <p:cNvSpPr txBox="1"/>
          <p:nvPr>
            <p:ph idx="3" type="subTitle"/>
          </p:nvPr>
        </p:nvSpPr>
        <p:spPr>
          <a:xfrm>
            <a:off x="1959100" y="3291213"/>
            <a:ext cx="1386900" cy="2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 buzzer alerts (milliseconds)</a:t>
            </a:r>
            <a:endParaRPr/>
          </a:p>
        </p:txBody>
      </p:sp>
      <p:sp>
        <p:nvSpPr>
          <p:cNvPr id="614" name="Google Shape;614;p49"/>
          <p:cNvSpPr/>
          <p:nvPr/>
        </p:nvSpPr>
        <p:spPr>
          <a:xfrm>
            <a:off x="1787200" y="3893613"/>
            <a:ext cx="17307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15" name="Google Shape;615;p49"/>
          <p:cNvSpPr txBox="1"/>
          <p:nvPr>
            <p:ph idx="3" type="subTitle"/>
          </p:nvPr>
        </p:nvSpPr>
        <p:spPr>
          <a:xfrm>
            <a:off x="1959100" y="3977763"/>
            <a:ext cx="1386900" cy="286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determination before sending</a:t>
            </a:r>
            <a:endParaRPr/>
          </a:p>
        </p:txBody>
      </p:sp>
      <p:sp>
        <p:nvSpPr>
          <p:cNvPr id="616" name="Google Shape;616;p49"/>
          <p:cNvSpPr/>
          <p:nvPr/>
        </p:nvSpPr>
        <p:spPr>
          <a:xfrm>
            <a:off x="5595715" y="1732414"/>
            <a:ext cx="1838400" cy="514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6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17" name="Google Shape;617;p49"/>
          <p:cNvSpPr txBox="1"/>
          <p:nvPr>
            <p:ph idx="3" type="subTitle"/>
          </p:nvPr>
        </p:nvSpPr>
        <p:spPr>
          <a:xfrm>
            <a:off x="5856301" y="1818775"/>
            <a:ext cx="1254900" cy="294300"/>
          </a:xfrm>
          <a:prstGeom prst="rect">
            <a:avLst/>
          </a:prstGeom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6"/>
              <a:t>Works Offline - No internet needed for alerts</a:t>
            </a:r>
            <a:endParaRPr sz="1026"/>
          </a:p>
        </p:txBody>
      </p:sp>
      <p:sp>
        <p:nvSpPr>
          <p:cNvPr id="618" name="Google Shape;618;p49"/>
          <p:cNvSpPr txBox="1"/>
          <p:nvPr>
            <p:ph idx="4" type="subTitle"/>
          </p:nvPr>
        </p:nvSpPr>
        <p:spPr>
          <a:xfrm>
            <a:off x="4569125" y="1183175"/>
            <a:ext cx="3184800" cy="467100"/>
          </a:xfrm>
          <a:prstGeom prst="rect">
            <a:avLst/>
          </a:prstGeom>
        </p:spPr>
        <p:txBody>
          <a:bodyPr anchorCtr="0" anchor="t" bIns="93825" lIns="93825" spcFirstLastPara="1" rIns="93825" wrap="square" tIns="93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6"/>
              <a:t>Why Edge Processing Matters:</a:t>
            </a:r>
            <a:endParaRPr b="1" sz="1436"/>
          </a:p>
        </p:txBody>
      </p:sp>
      <p:sp>
        <p:nvSpPr>
          <p:cNvPr id="619" name="Google Shape;619;p49"/>
          <p:cNvSpPr/>
          <p:nvPr/>
        </p:nvSpPr>
        <p:spPr>
          <a:xfrm>
            <a:off x="5658283" y="2436908"/>
            <a:ext cx="1776000" cy="467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6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20" name="Google Shape;620;p49"/>
          <p:cNvSpPr txBox="1"/>
          <p:nvPr>
            <p:ph idx="3" type="subTitle"/>
          </p:nvPr>
        </p:nvSpPr>
        <p:spPr>
          <a:xfrm>
            <a:off x="5918869" y="2523268"/>
            <a:ext cx="1254900" cy="294300"/>
          </a:xfrm>
          <a:prstGeom prst="rect">
            <a:avLst/>
          </a:prstGeom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6"/>
              <a:t>Low Latency - Instant Response, no cloud trip</a:t>
            </a:r>
            <a:endParaRPr sz="1026"/>
          </a:p>
        </p:txBody>
      </p:sp>
      <p:sp>
        <p:nvSpPr>
          <p:cNvPr id="621" name="Google Shape;621;p49"/>
          <p:cNvSpPr/>
          <p:nvPr/>
        </p:nvSpPr>
        <p:spPr>
          <a:xfrm>
            <a:off x="5658283" y="3141388"/>
            <a:ext cx="1776000" cy="467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6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22" name="Google Shape;622;p49"/>
          <p:cNvSpPr txBox="1"/>
          <p:nvPr>
            <p:ph idx="3" type="subTitle"/>
          </p:nvPr>
        </p:nvSpPr>
        <p:spPr>
          <a:xfrm>
            <a:off x="5834675" y="3227737"/>
            <a:ext cx="1423200" cy="294300"/>
          </a:xfrm>
          <a:prstGeom prst="rect">
            <a:avLst/>
          </a:prstGeom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6"/>
              <a:t>Reduced Bandwidth</a:t>
            </a:r>
            <a:endParaRPr sz="1026"/>
          </a:p>
        </p:txBody>
      </p:sp>
      <p:sp>
        <p:nvSpPr>
          <p:cNvPr id="623" name="Google Shape;623;p49"/>
          <p:cNvSpPr/>
          <p:nvPr/>
        </p:nvSpPr>
        <p:spPr>
          <a:xfrm>
            <a:off x="5658283" y="3845881"/>
            <a:ext cx="1776000" cy="467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6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24" name="Google Shape;624;p49"/>
          <p:cNvSpPr txBox="1"/>
          <p:nvPr>
            <p:ph idx="3" type="subTitle"/>
          </p:nvPr>
        </p:nvSpPr>
        <p:spPr>
          <a:xfrm>
            <a:off x="5834675" y="3932230"/>
            <a:ext cx="1423200" cy="294300"/>
          </a:xfrm>
          <a:prstGeom prst="rect">
            <a:avLst/>
          </a:prstGeom>
        </p:spPr>
        <p:txBody>
          <a:bodyPr anchorCtr="0" anchor="ctr" bIns="93825" lIns="93825" spcFirstLastPara="1" rIns="93825" wrap="square" tIns="9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6"/>
              <a:t>Privacy - Data processed locally</a:t>
            </a:r>
            <a:endParaRPr sz="102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"/>
          <p:cNvSpPr/>
          <p:nvPr/>
        </p:nvSpPr>
        <p:spPr>
          <a:xfrm>
            <a:off x="971250" y="1148991"/>
            <a:ext cx="2717100" cy="544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ThingSpeak</a:t>
            </a:r>
            <a:endParaRPr sz="22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30" name="Google Shape;630;p50"/>
          <p:cNvSpPr txBox="1"/>
          <p:nvPr>
            <p:ph type="title"/>
          </p:nvPr>
        </p:nvSpPr>
        <p:spPr>
          <a:xfrm>
            <a:off x="228600" y="420025"/>
            <a:ext cx="2926200" cy="54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Cloud Dashboards</a:t>
            </a:r>
            <a:endParaRPr b="1" sz="2600"/>
          </a:p>
        </p:txBody>
      </p:sp>
      <p:pic>
        <p:nvPicPr>
          <p:cNvPr id="631" name="Google Shape;6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988" y="1877975"/>
            <a:ext cx="3195825" cy="273183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0"/>
          <p:cNvSpPr txBox="1"/>
          <p:nvPr/>
        </p:nvSpPr>
        <p:spPr>
          <a:xfrm>
            <a:off x="971250" y="4683725"/>
            <a:ext cx="33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Smart Plant Monitor - ThingSpeak IoT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5045375" y="1075941"/>
            <a:ext cx="2717100" cy="544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UbiDots</a:t>
            </a:r>
            <a:endParaRPr sz="22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34" name="Google Shape;634;p50"/>
          <p:cNvSpPr txBox="1"/>
          <p:nvPr/>
        </p:nvSpPr>
        <p:spPr>
          <a:xfrm>
            <a:off x="5045375" y="4610675"/>
            <a:ext cx="33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Ubidots | Devices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35" name="Google Shape;63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2837" y="1951066"/>
            <a:ext cx="4723389" cy="223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0" name="Google Shape;640;p51"/>
          <p:cNvCxnSpPr/>
          <p:nvPr/>
        </p:nvCxnSpPr>
        <p:spPr>
          <a:xfrm>
            <a:off x="1898675" y="2445775"/>
            <a:ext cx="5108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1"/>
          <p:cNvCxnSpPr/>
          <p:nvPr/>
        </p:nvCxnSpPr>
        <p:spPr>
          <a:xfrm rot="10800000">
            <a:off x="4460950" y="827600"/>
            <a:ext cx="0" cy="3907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51"/>
          <p:cNvSpPr txBox="1"/>
          <p:nvPr/>
        </p:nvSpPr>
        <p:spPr>
          <a:xfrm>
            <a:off x="2235425" y="2134509"/>
            <a:ext cx="1844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Device Descriptor Request Failed on all 5 cables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3" name="Google Shape;643;p51"/>
          <p:cNvSpPr txBox="1"/>
          <p:nvPr/>
        </p:nvSpPr>
        <p:spPr>
          <a:xfrm>
            <a:off x="4799150" y="2066433"/>
            <a:ext cx="1844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Connected Arduino directly to </a:t>
            </a: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Raspberry</a:t>
            </a: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Pi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4" name="Google Shape;644;p51"/>
          <p:cNvSpPr/>
          <p:nvPr/>
        </p:nvSpPr>
        <p:spPr>
          <a:xfrm>
            <a:off x="2537552" y="1750800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Windows USB Failed</a:t>
            </a:r>
            <a:endParaRPr sz="9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45" name="Google Shape;645;p51"/>
          <p:cNvSpPr/>
          <p:nvPr/>
        </p:nvSpPr>
        <p:spPr>
          <a:xfrm>
            <a:off x="5042853" y="1695000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Bypassed Windows</a:t>
            </a:r>
            <a:endParaRPr sz="9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46" name="Google Shape;646;p51"/>
          <p:cNvSpPr txBox="1"/>
          <p:nvPr>
            <p:ph type="title"/>
          </p:nvPr>
        </p:nvSpPr>
        <p:spPr>
          <a:xfrm>
            <a:off x="228600" y="420025"/>
            <a:ext cx="4564200" cy="54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Challenges and Solutions</a:t>
            </a:r>
            <a:endParaRPr b="1" sz="2600"/>
          </a:p>
        </p:txBody>
      </p:sp>
      <p:sp>
        <p:nvSpPr>
          <p:cNvPr id="647" name="Google Shape;647;p51"/>
          <p:cNvSpPr txBox="1"/>
          <p:nvPr/>
        </p:nvSpPr>
        <p:spPr>
          <a:xfrm>
            <a:off x="2326850" y="2952784"/>
            <a:ext cx="18441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Adding water decreased the readings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8" name="Google Shape;648;p51"/>
          <p:cNvSpPr/>
          <p:nvPr/>
        </p:nvSpPr>
        <p:spPr>
          <a:xfrm>
            <a:off x="2628977" y="2569075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Moisture Sensor Inverted</a:t>
            </a:r>
            <a:endParaRPr sz="9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49" name="Google Shape;649;p51"/>
          <p:cNvSpPr txBox="1"/>
          <p:nvPr/>
        </p:nvSpPr>
        <p:spPr>
          <a:xfrm>
            <a:off x="4799150" y="2952784"/>
            <a:ext cx="1844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Exchanged MOISTURE_DRY and MOISTURE_WET values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5101277" y="2569075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Swapped Calibration</a:t>
            </a:r>
            <a:endParaRPr sz="9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cxnSp>
        <p:nvCxnSpPr>
          <p:cNvPr id="651" name="Google Shape;651;p51"/>
          <p:cNvCxnSpPr/>
          <p:nvPr/>
        </p:nvCxnSpPr>
        <p:spPr>
          <a:xfrm>
            <a:off x="2043025" y="3282825"/>
            <a:ext cx="5108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51"/>
          <p:cNvSpPr txBox="1"/>
          <p:nvPr/>
        </p:nvSpPr>
        <p:spPr>
          <a:xfrm>
            <a:off x="2406600" y="3771059"/>
            <a:ext cx="18441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Temperature sensor failed to start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3" name="Google Shape;653;p51"/>
          <p:cNvSpPr/>
          <p:nvPr/>
        </p:nvSpPr>
        <p:spPr>
          <a:xfrm>
            <a:off x="2708727" y="3387350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Temp + Humidity Sensor Not Initializing</a:t>
            </a:r>
            <a:endParaRPr sz="7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654" name="Google Shape;654;p51"/>
          <p:cNvSpPr txBox="1"/>
          <p:nvPr/>
        </p:nvSpPr>
        <p:spPr>
          <a:xfrm>
            <a:off x="4799150" y="3771059"/>
            <a:ext cx="18441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6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System continues with default values (22C, 50%)</a:t>
            </a:r>
            <a:endParaRPr sz="826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5" name="Google Shape;655;p51"/>
          <p:cNvSpPr/>
          <p:nvPr/>
        </p:nvSpPr>
        <p:spPr>
          <a:xfrm>
            <a:off x="5101277" y="3387350"/>
            <a:ext cx="1239900" cy="282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83975" lIns="83975" spcFirstLastPara="1" rIns="83975" wrap="square" tIns="839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18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Fallback Values</a:t>
            </a:r>
            <a:endParaRPr sz="718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2"/>
          <p:cNvSpPr txBox="1"/>
          <p:nvPr>
            <p:ph type="title"/>
          </p:nvPr>
        </p:nvSpPr>
        <p:spPr>
          <a:xfrm>
            <a:off x="228600" y="420017"/>
            <a:ext cx="6480300" cy="51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Live Demo</a:t>
            </a:r>
            <a:endParaRPr b="1" sz="2400"/>
          </a:p>
        </p:txBody>
      </p:sp>
      <p:sp>
        <p:nvSpPr>
          <p:cNvPr id="661" name="Google Shape;661;p52"/>
          <p:cNvSpPr txBox="1"/>
          <p:nvPr/>
        </p:nvSpPr>
        <p:spPr>
          <a:xfrm>
            <a:off x="852350" y="1555900"/>
            <a:ext cx="35739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AutoNum type="arabicParenR"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ssh plant-pi@10.50.200.183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AutoNum type="arabicParenR"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cd /plant-monitor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AutoNum type="arabicParenR"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pkill -f gateway_direct.py; sleep 2; cd ~/plant-monitor &amp;&amp; python3 gateway_direct.py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or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AutoNum type="arabicParenR"/>
            </a:pPr>
            <a:r>
              <a:rPr lang="en"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sudo kill $(sudo lsof -t -i:5000) 2&gt;/dev/null</a:t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Red Hat Display"/>
              <a:buAutoNum type="arabicParenR"/>
            </a:pPr>
            <a:r>
              <a:rPr lang="en" sz="800" u="sng">
                <a:solidFill>
                  <a:schemeClr val="hlink"/>
                </a:solidFill>
                <a:hlinkClick r:id="rId3"/>
              </a:rPr>
              <a:t>Smart Plant Monitor - ThingSpeak IoT</a:t>
            </a:r>
            <a:endParaRPr sz="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Red Hat Display"/>
              <a:buAutoNum type="arabicParenR"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Ubidots | Devices</a:t>
            </a:r>
            <a:endParaRPr sz="6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3"/>
          <p:cNvSpPr/>
          <p:nvPr/>
        </p:nvSpPr>
        <p:spPr>
          <a:xfrm>
            <a:off x="746219" y="2502290"/>
            <a:ext cx="1199400" cy="32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67" name="Google Shape;667;p53"/>
          <p:cNvSpPr txBox="1"/>
          <p:nvPr>
            <p:ph idx="2" type="subTitle"/>
          </p:nvPr>
        </p:nvSpPr>
        <p:spPr>
          <a:xfrm>
            <a:off x="737174" y="2502288"/>
            <a:ext cx="1130400" cy="32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Edge Impulse ML</a:t>
            </a:r>
            <a:endParaRPr/>
          </a:p>
        </p:txBody>
      </p:sp>
      <p:sp>
        <p:nvSpPr>
          <p:cNvPr id="668" name="Google Shape;668;p53"/>
          <p:cNvSpPr txBox="1"/>
          <p:nvPr>
            <p:ph idx="6" type="body"/>
          </p:nvPr>
        </p:nvSpPr>
        <p:spPr>
          <a:xfrm>
            <a:off x="746219" y="2955500"/>
            <a:ext cx="1593300" cy="10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image classification model to detect healthy, wilting and diseased plants. </a:t>
            </a:r>
            <a:endParaRPr/>
          </a:p>
          <a:p>
            <a:pPr indent="-102870" lvl="0" marL="274320" rtl="0" algn="l">
              <a:spcBef>
                <a:spcPts val="1000"/>
              </a:spcBef>
              <a:spcAft>
                <a:spcPts val="0"/>
              </a:spcAft>
              <a:buSzPts val="900"/>
              <a:buChar char="➔"/>
            </a:pPr>
            <a:r>
              <a:rPr lang="en"/>
              <a:t>Edge Impulse Link: </a:t>
            </a:r>
            <a:r>
              <a:rPr lang="en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Plant Health Monitor - Dashboard - Edge Impulse</a:t>
            </a:r>
            <a:endParaRPr sz="600"/>
          </a:p>
        </p:txBody>
      </p:sp>
      <p:sp>
        <p:nvSpPr>
          <p:cNvPr id="669" name="Google Shape;669;p53"/>
          <p:cNvSpPr txBox="1"/>
          <p:nvPr>
            <p:ph type="title"/>
          </p:nvPr>
        </p:nvSpPr>
        <p:spPr>
          <a:xfrm>
            <a:off x="384000" y="1009300"/>
            <a:ext cx="4564200" cy="54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Future Enhancements</a:t>
            </a:r>
            <a:endParaRPr b="1" sz="2600"/>
          </a:p>
        </p:txBody>
      </p:sp>
      <p:sp>
        <p:nvSpPr>
          <p:cNvPr id="670" name="Google Shape;670;p53"/>
          <p:cNvSpPr/>
          <p:nvPr/>
        </p:nvSpPr>
        <p:spPr>
          <a:xfrm>
            <a:off x="2446248" y="2502102"/>
            <a:ext cx="1199400" cy="32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71" name="Google Shape;671;p53"/>
          <p:cNvSpPr txBox="1"/>
          <p:nvPr>
            <p:ph idx="2" type="subTitle"/>
          </p:nvPr>
        </p:nvSpPr>
        <p:spPr>
          <a:xfrm>
            <a:off x="2437204" y="2502100"/>
            <a:ext cx="1130400" cy="32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Auto Watering</a:t>
            </a:r>
            <a:endParaRPr/>
          </a:p>
        </p:txBody>
      </p:sp>
      <p:sp>
        <p:nvSpPr>
          <p:cNvPr id="672" name="Google Shape;672;p53"/>
          <p:cNvSpPr txBox="1"/>
          <p:nvPr>
            <p:ph idx="6" type="body"/>
          </p:nvPr>
        </p:nvSpPr>
        <p:spPr>
          <a:xfrm>
            <a:off x="2446248" y="2955313"/>
            <a:ext cx="15933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Add water pump and relay for automatic irrigation when soil is dry. </a:t>
            </a:r>
            <a:r>
              <a:rPr lang="en"/>
              <a:t>Include</a:t>
            </a:r>
            <a:r>
              <a:rPr lang="en"/>
              <a:t> safeguards to prevent overwatering.</a:t>
            </a:r>
            <a:endParaRPr sz="600"/>
          </a:p>
        </p:txBody>
      </p:sp>
      <p:sp>
        <p:nvSpPr>
          <p:cNvPr id="673" name="Google Shape;673;p53"/>
          <p:cNvSpPr/>
          <p:nvPr/>
        </p:nvSpPr>
        <p:spPr>
          <a:xfrm>
            <a:off x="4155323" y="2502277"/>
            <a:ext cx="1199400" cy="32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74" name="Google Shape;674;p53"/>
          <p:cNvSpPr txBox="1"/>
          <p:nvPr>
            <p:ph idx="2" type="subTitle"/>
          </p:nvPr>
        </p:nvSpPr>
        <p:spPr>
          <a:xfrm>
            <a:off x="4146278" y="2502275"/>
            <a:ext cx="1130400" cy="32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3: Multi-Plant</a:t>
            </a:r>
            <a:endParaRPr/>
          </a:p>
        </p:txBody>
      </p:sp>
      <p:sp>
        <p:nvSpPr>
          <p:cNvPr id="675" name="Google Shape;675;p53"/>
          <p:cNvSpPr txBox="1"/>
          <p:nvPr>
            <p:ph idx="6" type="body"/>
          </p:nvPr>
        </p:nvSpPr>
        <p:spPr>
          <a:xfrm>
            <a:off x="4155323" y="2955488"/>
            <a:ext cx="15933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Multiple sensor nodes with unified dashboard showing all plants. Individual care profiles per plant type.</a:t>
            </a:r>
            <a:endParaRPr sz="600"/>
          </a:p>
        </p:txBody>
      </p:sp>
      <p:sp>
        <p:nvSpPr>
          <p:cNvPr id="676" name="Google Shape;676;p53"/>
          <p:cNvSpPr/>
          <p:nvPr/>
        </p:nvSpPr>
        <p:spPr>
          <a:xfrm>
            <a:off x="6010673" y="2502102"/>
            <a:ext cx="1199400" cy="32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77" name="Google Shape;677;p53"/>
          <p:cNvSpPr txBox="1"/>
          <p:nvPr>
            <p:ph idx="2" type="subTitle"/>
          </p:nvPr>
        </p:nvSpPr>
        <p:spPr>
          <a:xfrm>
            <a:off x="6001628" y="2502100"/>
            <a:ext cx="1130400" cy="32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Mobile App </a:t>
            </a:r>
            <a:endParaRPr/>
          </a:p>
        </p:txBody>
      </p:sp>
      <p:sp>
        <p:nvSpPr>
          <p:cNvPr id="678" name="Google Shape;678;p53"/>
          <p:cNvSpPr txBox="1"/>
          <p:nvPr>
            <p:ph idx="6" type="body"/>
          </p:nvPr>
        </p:nvSpPr>
        <p:spPr>
          <a:xfrm>
            <a:off x="6010673" y="2955313"/>
            <a:ext cx="1593300" cy="6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Push notifications for alerts, </a:t>
            </a:r>
            <a:r>
              <a:rPr lang="en"/>
              <a:t>remote</a:t>
            </a:r>
            <a:r>
              <a:rPr lang="en"/>
              <a:t> photo viewing, and historical analytics on your phone.</a:t>
            </a:r>
            <a:endParaRPr sz="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3" name="Google Shape;683;p54"/>
          <p:cNvCxnSpPr/>
          <p:nvPr/>
        </p:nvCxnSpPr>
        <p:spPr>
          <a:xfrm>
            <a:off x="6084702" y="1505300"/>
            <a:ext cx="0" cy="1446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4" name="Google Shape;684;p54"/>
          <p:cNvSpPr/>
          <p:nvPr/>
        </p:nvSpPr>
        <p:spPr>
          <a:xfrm>
            <a:off x="331350" y="508350"/>
            <a:ext cx="8575200" cy="4356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75" lIns="118075" spcFirstLastPara="1" rIns="118075" wrap="square" tIns="11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3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85" name="Google Shape;685;p54"/>
          <p:cNvCxnSpPr/>
          <p:nvPr/>
        </p:nvCxnSpPr>
        <p:spPr>
          <a:xfrm flipH="1">
            <a:off x="5978613" y="1507225"/>
            <a:ext cx="100800" cy="295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54"/>
          <p:cNvCxnSpPr/>
          <p:nvPr/>
        </p:nvCxnSpPr>
        <p:spPr>
          <a:xfrm flipH="1">
            <a:off x="-50" y="1507225"/>
            <a:ext cx="228600" cy="29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4"/>
          <p:cNvCxnSpPr/>
          <p:nvPr/>
        </p:nvCxnSpPr>
        <p:spPr>
          <a:xfrm flipH="1">
            <a:off x="5977875" y="2949725"/>
            <a:ext cx="102600" cy="293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54"/>
          <p:cNvCxnSpPr/>
          <p:nvPr/>
        </p:nvCxnSpPr>
        <p:spPr>
          <a:xfrm flipH="1">
            <a:off x="-50" y="2944200"/>
            <a:ext cx="228600" cy="29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54"/>
          <p:cNvCxnSpPr/>
          <p:nvPr/>
        </p:nvCxnSpPr>
        <p:spPr>
          <a:xfrm flipH="1">
            <a:off x="-50" y="3337800"/>
            <a:ext cx="228600" cy="29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54"/>
          <p:cNvCxnSpPr/>
          <p:nvPr/>
        </p:nvCxnSpPr>
        <p:spPr>
          <a:xfrm flipH="1">
            <a:off x="-50" y="3980700"/>
            <a:ext cx="228600" cy="29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54"/>
          <p:cNvCxnSpPr/>
          <p:nvPr/>
        </p:nvCxnSpPr>
        <p:spPr>
          <a:xfrm flipH="1">
            <a:off x="8908683" y="1507225"/>
            <a:ext cx="233100" cy="297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54"/>
          <p:cNvCxnSpPr/>
          <p:nvPr/>
        </p:nvCxnSpPr>
        <p:spPr>
          <a:xfrm flipH="1">
            <a:off x="8910900" y="2940025"/>
            <a:ext cx="234000" cy="295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54"/>
          <p:cNvCxnSpPr/>
          <p:nvPr/>
        </p:nvCxnSpPr>
        <p:spPr>
          <a:xfrm flipH="1">
            <a:off x="8910900" y="3337350"/>
            <a:ext cx="234000" cy="295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54"/>
          <p:cNvCxnSpPr/>
          <p:nvPr/>
        </p:nvCxnSpPr>
        <p:spPr>
          <a:xfrm flipH="1">
            <a:off x="8910900" y="3980250"/>
            <a:ext cx="234000" cy="295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54"/>
          <p:cNvSpPr txBox="1"/>
          <p:nvPr>
            <p:ph idx="5" type="subTitle"/>
          </p:nvPr>
        </p:nvSpPr>
        <p:spPr>
          <a:xfrm>
            <a:off x="543990" y="1044859"/>
            <a:ext cx="3208500" cy="472500"/>
          </a:xfrm>
          <a:prstGeom prst="rect">
            <a:avLst/>
          </a:prstGeom>
        </p:spPr>
        <p:txBody>
          <a:bodyPr anchorCtr="0" anchor="b" bIns="118075" lIns="118075" spcFirstLastPara="1" rIns="118075" wrap="square" tIns="11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49"/>
              <a:t>Conclusion</a:t>
            </a:r>
            <a:endParaRPr sz="3049"/>
          </a:p>
        </p:txBody>
      </p:sp>
      <p:sp>
        <p:nvSpPr>
          <p:cNvPr id="696" name="Google Shape;696;p54"/>
          <p:cNvSpPr txBox="1"/>
          <p:nvPr>
            <p:ph idx="6" type="body"/>
          </p:nvPr>
        </p:nvSpPr>
        <p:spPr>
          <a:xfrm>
            <a:off x="696390" y="1801875"/>
            <a:ext cx="3184800" cy="1510800"/>
          </a:xfrm>
          <a:prstGeom prst="rect">
            <a:avLst/>
          </a:prstGeom>
        </p:spPr>
        <p:txBody>
          <a:bodyPr anchorCtr="0" anchor="t" bIns="118075" lIns="118075" spcFirstLastPara="1" rIns="118075" wrap="square" tIns="118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2"/>
          </a:p>
          <a:p>
            <a:pPr indent="-132847" lvl="0" marL="354261" rtl="0" algn="l">
              <a:spcBef>
                <a:spcPts val="0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Complete CDA-GDA-Cloud architecture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Edge computing with local decisions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775"/>
              </a:spcAft>
              <a:buSzPts val="1162"/>
              <a:buChar char="➔"/>
            </a:pPr>
            <a:r>
              <a:rPr lang="en" sz="1162"/>
              <a:t>Dual cloud integration (ThingSpeak + Ubidots) </a:t>
            </a:r>
            <a:endParaRPr sz="1162"/>
          </a:p>
        </p:txBody>
      </p:sp>
      <p:sp>
        <p:nvSpPr>
          <p:cNvPr id="697" name="Google Shape;697;p54"/>
          <p:cNvSpPr txBox="1"/>
          <p:nvPr>
            <p:ph idx="6" type="body"/>
          </p:nvPr>
        </p:nvSpPr>
        <p:spPr>
          <a:xfrm>
            <a:off x="696390" y="2951600"/>
            <a:ext cx="3184800" cy="874500"/>
          </a:xfrm>
          <a:prstGeom prst="rect">
            <a:avLst/>
          </a:prstGeom>
        </p:spPr>
        <p:txBody>
          <a:bodyPr anchorCtr="0" anchor="t" bIns="118075" lIns="118075" spcFirstLastPara="1" rIns="118075" wrap="square" tIns="118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2"/>
          </a:p>
          <a:p>
            <a:pPr indent="-132847" lvl="0" marL="354261" rtl="0" algn="l">
              <a:spcBef>
                <a:spcPts val="0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Camera </a:t>
            </a:r>
            <a:r>
              <a:rPr lang="en" sz="1162"/>
              <a:t>documentation</a:t>
            </a:r>
            <a:r>
              <a:rPr lang="en" sz="1162"/>
              <a:t> system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775"/>
              </a:spcAft>
              <a:buSzPts val="1162"/>
              <a:buChar char="➔"/>
            </a:pPr>
            <a:r>
              <a:rPr lang="en" sz="1162"/>
              <a:t>Web dashboard + real-time alerts</a:t>
            </a:r>
            <a:endParaRPr sz="1162"/>
          </a:p>
        </p:txBody>
      </p:sp>
      <p:sp>
        <p:nvSpPr>
          <p:cNvPr id="698" name="Google Shape;698;p54"/>
          <p:cNvSpPr txBox="1"/>
          <p:nvPr>
            <p:ph idx="6" type="body"/>
          </p:nvPr>
        </p:nvSpPr>
        <p:spPr>
          <a:xfrm>
            <a:off x="4571990" y="1733100"/>
            <a:ext cx="3184800" cy="1152900"/>
          </a:xfrm>
          <a:prstGeom prst="rect">
            <a:avLst/>
          </a:prstGeom>
        </p:spPr>
        <p:txBody>
          <a:bodyPr anchorCtr="0" anchor="t" bIns="118075" lIns="118075" spcFirstLastPara="1" rIns="118075" wrap="square" tIns="118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2"/>
          </a:p>
          <a:p>
            <a:pPr indent="-132847" lvl="0" marL="354261" rtl="0" algn="l">
              <a:spcBef>
                <a:spcPts val="0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Embedded systems (Arduino C++)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Python gateway development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775"/>
              </a:spcAft>
              <a:buSzPts val="1162"/>
              <a:buChar char="➔"/>
            </a:pPr>
            <a:r>
              <a:rPr lang="en" sz="1162"/>
              <a:t>IoT protocols (Serial, HTTP, JSON)</a:t>
            </a:r>
            <a:endParaRPr sz="1162"/>
          </a:p>
        </p:txBody>
      </p:sp>
      <p:sp>
        <p:nvSpPr>
          <p:cNvPr id="699" name="Google Shape;699;p54"/>
          <p:cNvSpPr txBox="1"/>
          <p:nvPr>
            <p:ph idx="6" type="body"/>
          </p:nvPr>
        </p:nvSpPr>
        <p:spPr>
          <a:xfrm>
            <a:off x="4571990" y="2654100"/>
            <a:ext cx="3184800" cy="874500"/>
          </a:xfrm>
          <a:prstGeom prst="rect">
            <a:avLst/>
          </a:prstGeom>
        </p:spPr>
        <p:txBody>
          <a:bodyPr anchorCtr="0" anchor="t" bIns="118075" lIns="118075" spcFirstLastPara="1" rIns="118075" wrap="square" tIns="118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2"/>
          </a:p>
          <a:p>
            <a:pPr indent="-132847" lvl="0" marL="354261" rtl="0" algn="l">
              <a:spcBef>
                <a:spcPts val="0"/>
              </a:spcBef>
              <a:spcAft>
                <a:spcPts val="0"/>
              </a:spcAft>
              <a:buSzPts val="1162"/>
              <a:buChar char="➔"/>
            </a:pPr>
            <a:r>
              <a:rPr lang="en" sz="1162"/>
              <a:t>Cloud service integration</a:t>
            </a:r>
            <a:endParaRPr sz="1162"/>
          </a:p>
          <a:p>
            <a:pPr indent="-132847" lvl="0" marL="354261" rtl="0" algn="l">
              <a:spcBef>
                <a:spcPts val="775"/>
              </a:spcBef>
              <a:spcAft>
                <a:spcPts val="775"/>
              </a:spcAft>
              <a:buSzPts val="1162"/>
              <a:buChar char="➔"/>
            </a:pPr>
            <a:r>
              <a:rPr lang="en" sz="1162"/>
              <a:t>System debugging &amp; troubleshooting</a:t>
            </a:r>
            <a:endParaRPr sz="1162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5"/>
          <p:cNvSpPr txBox="1"/>
          <p:nvPr>
            <p:ph type="title"/>
          </p:nvPr>
        </p:nvSpPr>
        <p:spPr>
          <a:xfrm>
            <a:off x="2423700" y="7492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05" name="Google Shape;705;p55"/>
          <p:cNvSpPr txBox="1"/>
          <p:nvPr>
            <p:ph idx="1" type="subTitle"/>
          </p:nvPr>
        </p:nvSpPr>
        <p:spPr>
          <a:xfrm>
            <a:off x="2423700" y="1389000"/>
            <a:ext cx="55995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Github: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moyataebisso/smart-plant-monitor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